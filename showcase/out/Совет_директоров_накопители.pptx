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Выручка, млн ₽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5310</c:v>
                </c:pt>
                <c:pt idx="1">
                  <c:v>6186</c:v>
                </c:pt>
                <c:pt idx="2">
                  <c:v>7207</c:v>
                </c:pt>
                <c:pt idx="3">
                  <c:v>8396</c:v>
                </c:pt>
                <c:pt idx="4">
                  <c:v>9781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Рентабельность EBITDA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0.22</c:v>
                </c:pt>
                <c:pt idx="1">
                  <c:v>0.226</c:v>
                </c:pt>
                <c:pt idx="2">
                  <c:v>0.232</c:v>
                </c:pt>
                <c:pt idx="3">
                  <c:v>0.238</c:v>
                </c:pt>
                <c:pt idx="4">
                  <c:v>0.244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D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Inter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Inter"/>
                  </a:rPr>
                  <a:t>млн ₽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0.28"/>
          <c:min val="0.18"/>
        </c:scaling>
        <c:delete val="0"/>
        <c:axPos val="r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Inter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Inter"/>
                  </a:rPr>
                  <a:t>маржа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Inter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Inter"/>
              </a:rPr>
              <a:t>Выручка 2026 по сегментам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Структура выручки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A5"/>
              </a:solidFill>
              <a:effectLst/>
            </c:spPr>
          </c:dPt>
          <c:dPt>
            <c:idx val="2"/>
            <c:bubble3D val="0"/>
            <c:spPr>
              <a:solidFill>
                <a:srgbClr val="A9BDD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Промышленный</c:v>
                </c:pt>
                <c:pt idx="1">
                  <c:v>Коммерческий</c:v>
                </c:pt>
                <c:pt idx="2">
                  <c:v>Розничный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2925</c:v>
                </c:pt>
                <c:pt idx="1">
                  <c:v>2062</c:v>
                </c:pt>
                <c:pt idx="2">
                  <c:v>323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Открытие. Цель заседания — получить решение по программе. Ключевая мысль: проект создаёт стоимость, но запас прочности узкий, поэтому нужен контроль двух драйверов.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числа, которые нужно запомнить, и три условия, при которых они верны. Если спросят про запас прочности — это следующий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График — настоящий объект PowerPoint: ряды можно править прямо в файле. Маржа растёт медленно и линейно, это заложенное допущение, а не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— почему прибыль выросла. Справа — на каком сегменте держится выручка. Промышленный даёт больше половины.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красных риска: сроки поставки и ставка. Оба контролируемы договором. Остальные — мониторинг.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этапов. Критический путь проходит через рамочный договор в IV квартале — без него сдвигается всё остальное.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Финальный слайд. Нужны два решения: сумма и делегирование подписания. Дата 31 октября — не формальность, это критический путь.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5D9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Модернизация сети накопителей · Конфиденциально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howcase/assets/fac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3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E2761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965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ЗАСЕДАНИЕ СОВЕТА ДИРЕКТОРОВ · 29 СЕНТЯБРЯ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2377440"/>
            <a:ext cx="7498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Модернизация сети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накопителей энергии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749808" y="4224528"/>
            <a:ext cx="1188720" cy="457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434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Инвестиционная программа 2026–2030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на утверждение 4,35 млрд ₽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РЕЗЮМЕ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Ключевые параметры программы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4,35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млрд ₽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Капитальные затраты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13,6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0215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IRR проекта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107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12,1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9107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Стоимость капитала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7999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4,1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года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7999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Срок окупаемости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FDF4E7"/>
          </a:solidFill>
          <a:ln w="12700">
            <a:solidFill>
              <a:srgbClr val="F0D9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54864" cy="868680"/>
          </a:xfrm>
          <a:prstGeom prst="rect">
            <a:avLst/>
          </a:prstGeom>
          <a:solidFill>
            <a:srgbClr val="C98A2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63931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4E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Спред IRR к стоимости капитала — 1,5 п.п. Решение чувствительно к темпу роста выручки и валовой марже: отклонение любого из них на 10 % уводит NPV в отрицательную зону.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177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Базовый сценарий выполним при трёх условиях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97280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Рамочный договор подписан до 31 октября 2026 года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70248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4" name="Text 22"/>
          <p:cNvSpPr/>
          <p:nvPr/>
        </p:nvSpPr>
        <p:spPr>
          <a:xfrm>
            <a:off x="4270248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818888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Валовая маржа удерживается не ниже 41,2 % в 2026 году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91856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7" name="Text 25"/>
          <p:cNvSpPr/>
          <p:nvPr/>
        </p:nvSpPr>
        <p:spPr>
          <a:xfrm>
            <a:off x="7991856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40496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Стоимость долга не превышает 11,5 % на горизонте программы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897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Источник: финансовая модель, лист DCF. Расчёт без учёта терминальной стоимости.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ПРОГНОЗ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Выручка и рентабельность EBITDA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ФАКТОРНЫЙ АНАЛИЗ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Откуда берётся прирост EBITDA</a:t>
            </a:r>
            <a:endParaRPr lang="en-US" sz="2800" dirty="0"/>
          </a:p>
        </p:txBody>
      </p:sp>
      <p:pic>
        <p:nvPicPr>
          <p:cNvPr id="4" name="Image 0" descr="/home/user/workspace/showcase/asset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949440" cy="34015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Мостик построен вне PowerPoint: waterfall не входит в набор нативных типов диаграмм OOXML.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772400" y="1554480"/>
          <a:ext cx="3840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УПРАВЛЕНИЕ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рисков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011680" y="1600200"/>
            <a:ext cx="7680960" cy="4023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0" y="1600200"/>
            <a:ext cx="0" cy="4023360"/>
          </a:xfrm>
          <a:prstGeom prst="line">
            <a:avLst/>
          </a:prstGeom>
          <a:noFill/>
          <a:ln w="12700">
            <a:solidFill>
              <a:srgbClr val="D5D9E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011680" y="3611880"/>
            <a:ext cx="768096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011680" y="573328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Вероятность →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" y="3474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Влияние 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05856" y="1947672"/>
            <a:ext cx="1828800" cy="914400"/>
          </a:xfrm>
          <a:prstGeom prst="ellipse">
            <a:avLst/>
          </a:prstGeom>
          <a:solidFill>
            <a:srgbClr val="B85042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51576" y="194767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Срыв сроков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поставки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72477" y="3033979"/>
            <a:ext cx="1828800" cy="914400"/>
          </a:xfrm>
          <a:prstGeom prst="ellipse">
            <a:avLst/>
          </a:prstGeom>
          <a:solidFill>
            <a:srgbClr val="B85042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18197" y="3033979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Рост ставки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финансирования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7949" y="2510942"/>
            <a:ext cx="1828800" cy="914400"/>
          </a:xfrm>
          <a:prstGeom prst="ellipse">
            <a:avLst/>
          </a:prstGeom>
          <a:solidFill>
            <a:srgbClr val="C98A2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3669" y="251094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Падение спроса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рознице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476902" y="3878885"/>
            <a:ext cx="1828800" cy="914400"/>
          </a:xfrm>
          <a:prstGeom prst="ellipse">
            <a:avLst/>
          </a:prstGeom>
          <a:solidFill>
            <a:srgbClr val="C98A2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2622" y="3878885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Курсовые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разницы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633472" y="4281221"/>
            <a:ext cx="1828800" cy="914400"/>
          </a:xfrm>
          <a:prstGeom prst="ellipse">
            <a:avLst/>
          </a:prstGeom>
          <a:solidFill>
            <a:srgbClr val="2E7D5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4281221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Изменение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тарифов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011680" y="60807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Красные риски требуют решения до подписания рамочного договора.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ЭТАПЫ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Дорожная карта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3108960"/>
            <a:ext cx="10607040" cy="0"/>
          </a:xfrm>
          <a:prstGeom prst="line">
            <a:avLst/>
          </a:prstGeom>
          <a:noFill/>
          <a:ln w="254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990088"/>
            <a:ext cx="237744" cy="237744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кв.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Рамочный договор,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первые 3 площадки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45536" y="2990088"/>
            <a:ext cx="237744" cy="237744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64408" y="3227832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04288" y="36576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кв. 2027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04288" y="39319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Ввод Псков-1,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Тула-Восток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58384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77256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17136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кв. 2027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Урал: 2 объекта,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 МВт·ч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71232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90104" y="3227832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9984" y="36576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кв. 2028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9984" y="39319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Сибирь,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завершение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784080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902952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42832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2029–2030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42832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 на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полную мощность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1206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Тёмные точки — этапы с подтверждённым финансированием.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УТВЕРЖДЕНИЮ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и запрос решения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103120"/>
                <a:gridCol w="173736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Сценарий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Рост выручки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NPV, млн ₽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IRR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Решение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Пессимистичный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8,0 %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−412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9,1 %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проходит порог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Базовый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16,5 %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13,6 %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Проходит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Оптимистичный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24,0 %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612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18,4 %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Проходит с запасом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79476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к совету директоров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Утвердить программу в объёме 4,35 млрд ₽ и делегировать правлению подписание рамочного договора с поставщиком до 31 октября 2026 года.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Совет директоров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Модернизация сети накопителей энергии</dc:title>
  <dc:subject>PptxGenJS Presentation</dc:subject>
  <dc:creator>Департамент стратегического развития</dc:creator>
  <cp:lastModifiedBy>Департамент стратегического развития</cp:lastModifiedBy>
  <cp:revision>1</cp:revision>
  <dcterms:created xsi:type="dcterms:W3CDTF">2026-08-16T01:30:20Z</dcterms:created>
  <dcterms:modified xsi:type="dcterms:W3CDTF">2026-08-16T01:30:20Z</dcterms:modified>
</cp:coreProperties>
</file>