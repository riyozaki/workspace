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Выручка, млн ₽</c:v>
                </c:pt>
              </c:strCache>
            </c:strRef>
          </c:tx>
          <c:spPr>
            <a:solidFill>
              <a:srgbClr val="4A6FA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2026</c:v>
                  </c:pt>
                  <c:pt idx="1">
                    <c:v>2027</c:v>
                  </c:pt>
                  <c:pt idx="2">
                    <c:v>2028</c:v>
                  </c:pt>
                  <c:pt idx="3">
                    <c:v>2029</c:v>
                  </c:pt>
                  <c:pt idx="4">
                    <c:v>2030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5310</c:v>
                </c:pt>
                <c:pt idx="1">
                  <c:v>6186</c:v>
                </c:pt>
                <c:pt idx="2">
                  <c:v>7207</c:v>
                </c:pt>
                <c:pt idx="3">
                  <c:v>8396</c:v>
                </c:pt>
                <c:pt idx="4">
                  <c:v>9781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Рентабельность EBITDA</c:v>
                </c:pt>
              </c:strCache>
            </c:strRef>
          </c:tx>
          <c:spPr>
            <a:solidFill>
              <a:srgbClr val="B85042"/>
            </a:solidFill>
            <a:ln w="38100" cap="flat">
              <a:solidFill>
                <a:srgbClr val="B8504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B85042"/>
              </a:solidFill>
              <a:ln w="9525" cap="flat">
                <a:solidFill>
                  <a:srgbClr val="B8504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2026</c:v>
                  </c:pt>
                  <c:pt idx="1">
                    <c:v>2027</c:v>
                  </c:pt>
                  <c:pt idx="2">
                    <c:v>2028</c:v>
                  </c:pt>
                  <c:pt idx="3">
                    <c:v>2029</c:v>
                  </c:pt>
                  <c:pt idx="4">
                    <c:v>2030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0.22</c:v>
                </c:pt>
                <c:pt idx="1">
                  <c:v>0.226</c:v>
                </c:pt>
                <c:pt idx="2">
                  <c:v>0.232</c:v>
                </c:pt>
                <c:pt idx="3">
                  <c:v>0.238</c:v>
                </c:pt>
                <c:pt idx="4">
                  <c:v>0.244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7085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8EDF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Inter"/>
                  </a:defRPr>
                </a:pPr>
                <a:r>
                  <a:rPr sz="1100" b="0" i="0" u="none" strike="noStrike">
                    <a:solidFill>
                      <a:srgbClr val="000000"/>
                    </a:solidFill>
                    <a:latin typeface="Inter"/>
                  </a:rPr>
                  <a:t>млн ₽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7085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  <c:max val="0.28"/>
          <c:min val="0.18"/>
        </c:scaling>
        <c:delete val="0"/>
        <c:axPos val="r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Inter"/>
                  </a:defRPr>
                </a:pPr>
                <a:r>
                  <a:rPr sz="1100" b="0" i="0" u="none" strike="noStrike">
                    <a:solidFill>
                      <a:srgbClr val="000000"/>
                    </a:solidFill>
                    <a:latin typeface="Inter"/>
                  </a:rPr>
                  <a:t>маржа</a:t>
                </a:r>
              </a:p>
            </c:rich>
          </c:tx>
          <c:layout/>
          <c:overlay val="0"/>
        </c:title>
        <c:numFmt formatCode="0.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7085"/>
                </a:solidFill>
                <a:latin typeface="Inter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933"/>
                </a:solidFill>
                <a:latin typeface="Inter"/>
              </a:defRPr>
            </a:pPr>
            <a:r>
              <a:rPr sz="1200" b="0" i="0" u="none" strike="noStrike">
                <a:solidFill>
                  <a:srgbClr val="1F2933"/>
                </a:solidFill>
                <a:latin typeface="Inter"/>
              </a:rPr>
              <a:t>Выручка 2026 по сегментам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Структура выручки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bubble3D val="0"/>
            <c:spPr>
              <a:solidFill>
                <a:srgbClr val="4A6FA5"/>
              </a:solidFill>
              <a:effectLst/>
            </c:spPr>
          </c:dPt>
          <c:dPt>
            <c:idx val="2"/>
            <c:bubble3D val="0"/>
            <c:spPr>
              <a:solidFill>
                <a:srgbClr val="A9BDD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Inter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Inter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Inter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Промышленный</c:v>
                </c:pt>
                <c:pt idx="1">
                  <c:v>Коммерческий</c:v>
                </c:pt>
                <c:pt idx="2">
                  <c:v>Розничный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2925</c:v>
                </c:pt>
                <c:pt idx="1">
                  <c:v>2062</c:v>
                </c:pt>
                <c:pt idx="2">
                  <c:v>323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Открытие. Цель заседания — получить решение по программе. Ключевая мысль: проект создаёт стоимость, но запас прочности узкий, поэтому нужен контроль двух драйверов.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Четыре числа, которые нужно запомнить, и три условия, при которых они верны. Если спросят про запас прочности — это следующий слайд.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График — настоящий объект PowerPoint: ряды можно править прямо в файле. Маржа растёт медленно и линейно, это заложенное допущение, а не результат.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Слева — почему прибыль выросла. Справа — на каком сегменте держится выручка. Промышленный даёт больше половины.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Два красных риска: сроки поставки и ставка. Оба контролируемы договором. Остальные — мониторинг.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Пять этапов. Критический путь проходит через рамочный договор в IV квартале — без него сдвигается всё остальное.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Финальный слайд. Нужны два решения: сумма и делегирование подписания. Дата 31 октября — не формальность, это критический путь.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263640"/>
            <a:ext cx="11094415" cy="0"/>
          </a:xfrm>
          <a:prstGeom prst="line">
            <a:avLst/>
          </a:prstGeom>
          <a:noFill/>
          <a:ln w="9525">
            <a:solidFill>
              <a:srgbClr val="D5D9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Модернизация сети накопителей · Конфиденциально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4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workspace/showcase/assets/facilit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30">
              <a:alpha val="72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6035040" cy="6858000"/>
          </a:xfrm>
          <a:prstGeom prst="rect">
            <a:avLst/>
          </a:prstGeom>
          <a:solidFill>
            <a:srgbClr val="1E2761">
              <a:alpha val="82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731520" y="1965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CADC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ЗАСЕДАНИЕ СОВЕТА ДИРЕКТОРОВ · 29 СЕНТЯБРЯ 2026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31520" y="2377440"/>
            <a:ext cx="74980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Модернизация сети</a:t>
            </a:r>
            <a:endParaRPr lang="en-US" sz="42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накопителей энергии</a:t>
            </a:r>
            <a:endParaRPr lang="en-US" sz="4200" dirty="0"/>
          </a:p>
        </p:txBody>
      </p:sp>
      <p:sp>
        <p:nvSpPr>
          <p:cNvPr id="7" name="Shape 4"/>
          <p:cNvSpPr/>
          <p:nvPr/>
        </p:nvSpPr>
        <p:spPr>
          <a:xfrm>
            <a:off x="749808" y="4224528"/>
            <a:ext cx="1188720" cy="457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44348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Инвестиционная программа 2026–2030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Запрос на утверждение 4,35 млрд ₽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A6F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РЕЗЮМЕ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Ключевые параметры программы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60320" cy="1600200"/>
          </a:xfrm>
          <a:prstGeom prst="roundRect">
            <a:avLst>
              <a:gd name="adj" fmla="val 3429"/>
            </a:avLst>
          </a:prstGeom>
          <a:solidFill>
            <a:srgbClr val="F4F6FA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810512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4,35</a:t>
            </a:r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млрд ₽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13232" y="245059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Капитальные затраты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37560" y="1600200"/>
            <a:ext cx="2560320" cy="1600200"/>
          </a:xfrm>
          <a:prstGeom prst="roundRect">
            <a:avLst>
              <a:gd name="adj" fmla="val 3429"/>
            </a:avLst>
          </a:prstGeom>
          <a:solidFill>
            <a:srgbClr val="F4F6FA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02152" y="1810512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7D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13,6</a:t>
            </a:r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502152" y="245059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IRR проекта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600200"/>
            <a:ext cx="2560320" cy="1600200"/>
          </a:xfrm>
          <a:prstGeom prst="roundRect">
            <a:avLst>
              <a:gd name="adj" fmla="val 3429"/>
            </a:avLst>
          </a:prstGeom>
          <a:solidFill>
            <a:srgbClr val="F4F6FA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91072" y="1810512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A6F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12,1</a:t>
            </a:r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291072" y="245059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Стоимость капитала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915400" y="1600200"/>
            <a:ext cx="2560320" cy="1600200"/>
          </a:xfrm>
          <a:prstGeom prst="roundRect">
            <a:avLst>
              <a:gd name="adj" fmla="val 3429"/>
            </a:avLst>
          </a:prstGeom>
          <a:solidFill>
            <a:srgbClr val="F4F6FA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79992" y="1810512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4,1</a:t>
            </a:r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года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9079992" y="245059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Срок окупаемости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520440"/>
            <a:ext cx="11064240" cy="868680"/>
          </a:xfrm>
          <a:prstGeom prst="roundRect">
            <a:avLst>
              <a:gd name="adj" fmla="val 5263"/>
            </a:avLst>
          </a:prstGeom>
          <a:solidFill>
            <a:srgbClr val="FDF4E7"/>
          </a:solidFill>
          <a:ln w="12700">
            <a:solidFill>
              <a:srgbClr val="F0D9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520440"/>
            <a:ext cx="54864" cy="868680"/>
          </a:xfrm>
          <a:prstGeom prst="rect">
            <a:avLst/>
          </a:prstGeom>
          <a:solidFill>
            <a:srgbClr val="C98A2B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363931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B4E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Спред IRR к стоимости капитала — 1,5 п.п. Решение чувствительно к темпу роста выручки и валовой марже: отклонение любого из них на 10 % уводит NPV в отрицательную зону.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6177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Базовый сценарий выполним при трёх условиях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983480"/>
            <a:ext cx="3493008" cy="36576"/>
          </a:xfrm>
          <a:prstGeom prst="rect">
            <a:avLst/>
          </a:prstGeom>
          <a:solidFill>
            <a:srgbClr val="4A6FA5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1023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6F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97280" y="5102352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Рамочный договор подписан до 31 октября 2026 года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270248" y="4983480"/>
            <a:ext cx="3493008" cy="36576"/>
          </a:xfrm>
          <a:prstGeom prst="rect">
            <a:avLst/>
          </a:prstGeom>
          <a:solidFill>
            <a:srgbClr val="4A6FA5"/>
          </a:solidFill>
          <a:ln/>
        </p:spPr>
      </p:sp>
      <p:sp>
        <p:nvSpPr>
          <p:cNvPr id="24" name="Text 22"/>
          <p:cNvSpPr/>
          <p:nvPr/>
        </p:nvSpPr>
        <p:spPr>
          <a:xfrm>
            <a:off x="4270248" y="51023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6F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818888" y="5102352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Валовая маржа удерживается не ниже 41,2 % в 2026 году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991856" y="4983480"/>
            <a:ext cx="3493008" cy="36576"/>
          </a:xfrm>
          <a:prstGeom prst="rect">
            <a:avLst/>
          </a:prstGeom>
          <a:solidFill>
            <a:srgbClr val="4A6FA5"/>
          </a:solidFill>
          <a:ln/>
        </p:spPr>
      </p:sp>
      <p:sp>
        <p:nvSpPr>
          <p:cNvPr id="27" name="Text 25"/>
          <p:cNvSpPr/>
          <p:nvPr/>
        </p:nvSpPr>
        <p:spPr>
          <a:xfrm>
            <a:off x="7991856" y="51023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6F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540496" y="5102352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Стоимость долга не превышает 11,5 % на горизонте программы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48640" y="58978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Источник: финансовая модель, лист DCF. Расчёт без учёта терминальной стоимости.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A6F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ПРОГНОЗ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Выручка и рентабельность EBITDA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110642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A6F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ФАКТОРНЫЙ АНАЛИЗ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Откуда берётся прирост EBITDA</a:t>
            </a:r>
            <a:endParaRPr lang="en-US" sz="2800" dirty="0"/>
          </a:p>
        </p:txBody>
      </p:sp>
      <p:pic>
        <p:nvPicPr>
          <p:cNvPr id="4" name="Image 0" descr="/home/user/workspace/showcase/assets/waterf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6949440" cy="34015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93776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Мостик построен вне PowerPoint: waterfall не входит в набор нативных типов диаграмм OOXML.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7772400" y="1554480"/>
          <a:ext cx="38404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A6F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УПРАВЛЕНИЕ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Карта рисков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011680" y="1600200"/>
            <a:ext cx="7680960" cy="4023360"/>
          </a:xfrm>
          <a:prstGeom prst="rect">
            <a:avLst/>
          </a:prstGeom>
          <a:solidFill>
            <a:srgbClr val="F4F6FA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52160" y="1600200"/>
            <a:ext cx="0" cy="4023360"/>
          </a:xfrm>
          <a:prstGeom prst="line">
            <a:avLst/>
          </a:prstGeom>
          <a:noFill/>
          <a:ln w="12700">
            <a:solidFill>
              <a:srgbClr val="D5D9E0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2011680" y="3611880"/>
            <a:ext cx="7680960" cy="0"/>
          </a:xfrm>
          <a:prstGeom prst="line">
            <a:avLst/>
          </a:prstGeom>
          <a:noFill/>
          <a:ln w="12700">
            <a:solidFill>
              <a:srgbClr val="D5D9E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2011680" y="5733288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Вероятность →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7160" y="34747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Влияние →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705856" y="1947672"/>
            <a:ext cx="1828800" cy="914400"/>
          </a:xfrm>
          <a:prstGeom prst="ellipse">
            <a:avLst/>
          </a:prstGeom>
          <a:solidFill>
            <a:srgbClr val="B85042">
              <a:alpha val="88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51576" y="1947672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Срыв сроков</a:t>
            </a:r>
            <a:endParaRPr lang="en-US" sz="9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поставки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472477" y="3033979"/>
            <a:ext cx="1828800" cy="914400"/>
          </a:xfrm>
          <a:prstGeom prst="ellipse">
            <a:avLst/>
          </a:prstGeom>
          <a:solidFill>
            <a:srgbClr val="B85042">
              <a:alpha val="88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18197" y="3033979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Рост ставки</a:t>
            </a:r>
            <a:endParaRPr lang="en-US" sz="9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финансирования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47949" y="2510942"/>
            <a:ext cx="1828800" cy="914400"/>
          </a:xfrm>
          <a:prstGeom prst="ellipse">
            <a:avLst/>
          </a:prstGeom>
          <a:solidFill>
            <a:srgbClr val="C98A2B">
              <a:alpha val="88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3669" y="2510942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Падение спроса</a:t>
            </a:r>
            <a:endParaRPr lang="en-US" sz="9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 рознице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476902" y="3878885"/>
            <a:ext cx="1828800" cy="914400"/>
          </a:xfrm>
          <a:prstGeom prst="ellipse">
            <a:avLst/>
          </a:prstGeom>
          <a:solidFill>
            <a:srgbClr val="C98A2B">
              <a:alpha val="88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22622" y="3878885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Курсовые</a:t>
            </a:r>
            <a:endParaRPr lang="en-US" sz="9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разницы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633472" y="4281221"/>
            <a:ext cx="1828800" cy="914400"/>
          </a:xfrm>
          <a:prstGeom prst="ellipse">
            <a:avLst/>
          </a:prstGeom>
          <a:solidFill>
            <a:srgbClr val="2E7D5B">
              <a:alpha val="88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79192" y="4281221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Изменение</a:t>
            </a:r>
            <a:endParaRPr lang="en-US" sz="9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тарифов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011680" y="60807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Красные риски требуют решения до подписания рамочного договора.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A6F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ЭТАПЫ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Дорожная карта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3108960"/>
            <a:ext cx="10607040" cy="0"/>
          </a:xfrm>
          <a:prstGeom prst="line">
            <a:avLst/>
          </a:prstGeom>
          <a:noFill/>
          <a:ln w="25400">
            <a:solidFill>
              <a:srgbClr val="D5D9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2688" y="2990088"/>
            <a:ext cx="237744" cy="237744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2606040"/>
            <a:ext cx="0" cy="384048"/>
          </a:xfrm>
          <a:prstGeom prst="line">
            <a:avLst/>
          </a:prstGeom>
          <a:noFill/>
          <a:ln w="12700">
            <a:solidFill>
              <a:srgbClr val="D5D9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" y="173736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IV кв. 2026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" y="201168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Рамочный договор,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первые 3 площадки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45536" y="2990088"/>
            <a:ext cx="237744" cy="237744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64408" y="3227832"/>
            <a:ext cx="0" cy="384048"/>
          </a:xfrm>
          <a:prstGeom prst="line">
            <a:avLst/>
          </a:prstGeom>
          <a:noFill/>
          <a:ln w="12700">
            <a:solidFill>
              <a:srgbClr val="D5D9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04288" y="365760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II кв. 2027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304288" y="393192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Ввод Псков-1,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Тула-Восток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358384" y="2990088"/>
            <a:ext cx="237744" cy="237744"/>
          </a:xfrm>
          <a:prstGeom prst="ellipse">
            <a:avLst/>
          </a:prstGeom>
          <a:solidFill>
            <a:srgbClr val="4A6FA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77256" y="2606040"/>
            <a:ext cx="0" cy="384048"/>
          </a:xfrm>
          <a:prstGeom prst="line">
            <a:avLst/>
          </a:prstGeom>
          <a:noFill/>
          <a:ln w="12700">
            <a:solidFill>
              <a:srgbClr val="D5D9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17136" y="173736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6F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IV кв. 2027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17136" y="201168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Урал: 2 объекта,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76 МВт·ч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571232" y="2990088"/>
            <a:ext cx="237744" cy="237744"/>
          </a:xfrm>
          <a:prstGeom prst="ellipse">
            <a:avLst/>
          </a:prstGeom>
          <a:solidFill>
            <a:srgbClr val="4A6FA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90104" y="3227832"/>
            <a:ext cx="0" cy="384048"/>
          </a:xfrm>
          <a:prstGeom prst="line">
            <a:avLst/>
          </a:prstGeom>
          <a:noFill/>
          <a:ln w="12700">
            <a:solidFill>
              <a:srgbClr val="D5D9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9984" y="365760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6F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II кв. 2028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729984" y="393192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Сибирь,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завершение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784080" y="2990088"/>
            <a:ext cx="237744" cy="237744"/>
          </a:xfrm>
          <a:prstGeom prst="ellipse">
            <a:avLst/>
          </a:prstGeom>
          <a:solidFill>
            <a:srgbClr val="4A6FA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902952" y="2606040"/>
            <a:ext cx="0" cy="384048"/>
          </a:xfrm>
          <a:prstGeom prst="line">
            <a:avLst/>
          </a:prstGeom>
          <a:noFill/>
          <a:ln w="12700">
            <a:solidFill>
              <a:srgbClr val="D5D9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42832" y="173736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6F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2029–2030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942832" y="201168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Выход на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полную мощность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22960" y="512064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Тёмные точки — этапы с подтверждённым финансированием.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A6F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 УТВЕРЖДЕНИЮ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Сценарии и запрос решения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011680"/>
                <a:gridCol w="2103120"/>
                <a:gridCol w="1737360"/>
                <a:gridCol w="24688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Сценарий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Рост выручки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NPV, млн ₽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IRR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Решение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Пессимистичный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8,0 %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−412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9,1 %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8504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Не проходит порог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Базовый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16,5 %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83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13,6 %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7D5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Проходит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Оптимистичный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24,0 %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612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18,4 %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E7D5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Проходит с запасом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794760"/>
            <a:ext cx="11064240" cy="13716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397764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Запрос к совету директоров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14400" y="429768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Утвердить программу в объёме 4,35 млрд ₽ и делегировать правлению подписание рамочного договора с поставщиком до 31 октября 2026 года.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Совет директоров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Модернизация сети накопителей энергии</dc:title>
  <dc:subject>PptxGenJS Presentation</dc:subject>
  <dc:creator>Департамент стратегического развития</dc:creator>
  <cp:lastModifiedBy>Департамент стратегического развития</cp:lastModifiedBy>
  <cp:revision>1</cp:revision>
  <dcterms:created xsi:type="dcterms:W3CDTF">2026-08-16T01:45:55Z</dcterms:created>
  <dcterms:modified xsi:type="dcterms:W3CDTF">2026-08-16T01:45:55Z</dcterms:modified>
</cp:coreProperties>
</file>