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Факт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 кв.</c:v>
                </c:pt>
                <c:pt idx="1">
                  <c:v>II кв.</c:v>
                </c:pt>
                <c:pt idx="2">
                  <c:v>III кв.</c:v>
                </c:pt>
                <c:pt idx="3">
                  <c:v>IV кв.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12.0</c:v>
                </c:pt>
                <c:pt idx="1">
                  <c:v>14.5</c:v>
                </c:pt>
                <c:pt idx="2">
                  <c:v>16.8</c:v>
                </c:pt>
                <c:pt idx="3">
                  <c:v>19.2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План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 кв.</c:v>
                </c:pt>
                <c:pt idx="1">
                  <c:v>II кв.</c:v>
                </c:pt>
                <c:pt idx="2">
                  <c:v>III кв.</c:v>
                </c:pt>
                <c:pt idx="3">
                  <c:v>IV кв.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13.0</c:v>
                </c:pt>
                <c:pt idx="1">
                  <c:v>15.2</c:v>
                </c:pt>
                <c:pt idx="2">
                  <c:v>17.5</c:v>
                </c:pt>
                <c:pt idx="3">
                  <c:v>20.0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млн 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 xml:space="preserve">Открыть встречу контекстом: анализ охватывает четыре квартала и </a:t>
            </a:r>
            <a:r>
              <a:t>три пилотные команды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Подчеркнуть: улучшение стоимости достигнуто через процесс, а не сокращение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устойчивый тренд и небольшой, но сокращающийся разрыв с планом.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превращать ограничения в список оправданий: каждое связано с действием на следующих слайдах.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Зафиксировать владельца и дату для каждой инициативы прямо на встрече.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Обратить внимание на зависимость автоматизации от стандартизации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Использовать как переход от результатов пилота к управленческому решению.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к финальному решению.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Получить явное решение по первым трём пунктам; четвёртый и пятый фиксируют контроль.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-role:panel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20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-role:accent"/>
          <p:cNvSpPr/>
          <p:nvPr/>
        </p:nvSpPr>
        <p:spPr>
          <a:xfrm>
            <a:off x="3749039" y="0"/>
            <a:ext cx="118872" cy="6858000"/>
          </a:xfrm>
          <a:prstGeom prst="rect">
            <a:avLst/>
          </a:prstGeom>
          <a:solidFill>
            <a:srgbClr val="C7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-role:text"/>
          <p:cNvSpPr txBox="1"/>
          <p:nvPr/>
        </p:nvSpPr>
        <p:spPr>
          <a:xfrm>
            <a:off x="4343400" y="1051560"/>
            <a:ext cx="6949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lang="ru-RU">
                <a:solidFill>
                  <a:srgbClr val="C77932"/>
                </a:solidFill>
                <a:latin typeface="Arial"/>
              </a:rPr>
              <a:t>ВНУТРЕННИЙ ОБЗОР</a:t>
            </a:r>
          </a:p>
        </p:txBody>
      </p:sp>
      <p:sp>
        <p:nvSpPr>
          <p:cNvPr id="5" name="ds-role:title"/>
          <p:cNvSpPr txBox="1"/>
          <p:nvPr/>
        </p:nvSpPr>
        <p:spPr>
          <a:xfrm>
            <a:off x="4297680" y="1508760"/>
            <a:ext cx="7040880" cy="1920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 lang="ru-RU">
                <a:solidFill>
                  <a:srgbClr val="203F54"/>
                </a:solidFill>
                <a:latin typeface="Arial"/>
              </a:rPr>
              <a:t>Операционная эффективность</a:t>
            </a:r>
          </a:p>
        </p:txBody>
      </p:sp>
      <p:sp>
        <p:nvSpPr>
          <p:cNvPr id="6" name="ds-role:text"/>
          <p:cNvSpPr txBox="1"/>
          <p:nvPr/>
        </p:nvSpPr>
        <p:spPr>
          <a:xfrm>
            <a:off x="4343400" y="3703320"/>
            <a:ext cx="6492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 lang="ru-RU">
                <a:solidFill>
                  <a:srgbClr val="667985"/>
                </a:solidFill>
                <a:latin typeface="Arial"/>
              </a:rPr>
              <a:t>Результаты второго квартала и план масштабирования</a:t>
            </a:r>
          </a:p>
        </p:txBody>
      </p:sp>
      <p:sp>
        <p:nvSpPr>
          <p:cNvPr id="7" name="ds-role:footer"/>
          <p:cNvSpPr txBox="1"/>
          <p:nvPr/>
        </p:nvSpPr>
        <p:spPr>
          <a:xfrm>
            <a:off x="4343400" y="6144768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lang="ru-RU">
                <a:solidFill>
                  <a:srgbClr val="667985"/>
                </a:solidFill>
                <a:latin typeface="Arial"/>
              </a:rPr>
              <a:t>Рабочая группа · 20 августа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-role:title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 lang="ru-RU">
                <a:solidFill>
                  <a:srgbClr val="203F54"/>
                </a:solidFill>
                <a:latin typeface="Arial"/>
              </a:rPr>
              <a:t>Ключевые результаты</a:t>
            </a:r>
          </a:p>
        </p:txBody>
      </p:sp>
      <p:sp>
        <p:nvSpPr>
          <p:cNvPr id="3" name="ds-role:accent"/>
          <p:cNvSpPr/>
          <p:nvPr/>
        </p:nvSpPr>
        <p:spPr>
          <a:xfrm>
            <a:off x="612648" y="987552"/>
            <a:ext cx="914400" cy="54864"/>
          </a:xfrm>
          <a:prstGeom prst="rect">
            <a:avLst/>
          </a:prstGeom>
          <a:solidFill>
            <a:srgbClr val="C7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-role:footer"/>
          <p:cNvSpPr txBox="1"/>
          <p:nvPr/>
        </p:nvSpPr>
        <p:spPr>
          <a:xfrm>
            <a:off x="621792" y="6510528"/>
            <a:ext cx="8686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lang="ru-RU">
                <a:solidFill>
                  <a:srgbClr val="667985"/>
                </a:solidFill>
                <a:latin typeface="Arial"/>
              </a:rPr>
              <a:t>Операционный обзор · август 2026</a:t>
            </a:r>
          </a:p>
        </p:txBody>
      </p:sp>
      <p:sp>
        <p:nvSpPr>
          <p:cNvPr id="5" name="ds-role:source"/>
          <p:cNvSpPr txBox="1"/>
          <p:nvPr/>
        </p:nvSpPr>
        <p:spPr>
          <a:xfrm>
            <a:off x="621792" y="6236208"/>
            <a:ext cx="10241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lang="ru-RU">
                <a:solidFill>
                  <a:srgbClr val="667985"/>
                </a:solidFill>
                <a:latin typeface="Arial"/>
              </a:rPr>
              <a:t>Источник: демонстрационные данные управленческой отчётности</a:t>
            </a:r>
          </a:p>
        </p:txBody>
      </p:sp>
      <p:sp>
        <p:nvSpPr>
          <p:cNvPr id="6" name="ds-role:slide-number"/>
          <p:cNvSpPr txBox="1"/>
          <p:nvPr/>
        </p:nvSpPr>
        <p:spPr>
          <a:xfrm>
            <a:off x="11137392" y="6473952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lang="ru-RU">
                <a:solidFill>
                  <a:srgbClr val="667985"/>
                </a:solidFill>
                <a:latin typeface="Arial"/>
              </a:rPr>
              <a:t>2</a:t>
            </a:r>
          </a:p>
        </p:txBody>
      </p:sp>
      <p:sp>
        <p:nvSpPr>
          <p:cNvPr id="7" name="ds-role:metric-card"/>
          <p:cNvSpPr/>
          <p:nvPr/>
        </p:nvSpPr>
        <p:spPr>
          <a:xfrm>
            <a:off x="685800" y="1600200"/>
            <a:ext cx="2546604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9F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-role:accent"/>
          <p:cNvSpPr/>
          <p:nvPr/>
        </p:nvSpPr>
        <p:spPr>
          <a:xfrm>
            <a:off x="685800" y="1600200"/>
            <a:ext cx="2546604" cy="82296"/>
          </a:xfrm>
          <a:prstGeom prst="rect">
            <a:avLst/>
          </a:prstGeom>
          <a:solidFill>
            <a:srgbClr val="257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-role:text"/>
          <p:cNvSpPr txBox="1"/>
          <p:nvPr/>
        </p:nvSpPr>
        <p:spPr>
          <a:xfrm>
            <a:off x="905256" y="1965960"/>
            <a:ext cx="2107692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 lang="ru-RU">
                <a:solidFill>
                  <a:srgbClr val="25734C"/>
                </a:solidFill>
                <a:latin typeface="Arial"/>
              </a:rPr>
              <a:t>−18%</a:t>
            </a:r>
          </a:p>
        </p:txBody>
      </p:sp>
      <p:sp>
        <p:nvSpPr>
          <p:cNvPr id="10" name="ds-role:text"/>
          <p:cNvSpPr txBox="1"/>
          <p:nvPr/>
        </p:nvSpPr>
        <p:spPr>
          <a:xfrm>
            <a:off x="905256" y="2999232"/>
            <a:ext cx="210769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lang="ru-RU">
                <a:solidFill>
                  <a:srgbClr val="23313A"/>
                </a:solidFill>
                <a:latin typeface="Arial"/>
              </a:rPr>
              <a:t>Цикл обработки</a:t>
            </a:r>
          </a:p>
        </p:txBody>
      </p:sp>
      <p:sp>
        <p:nvSpPr>
          <p:cNvPr id="11" name="ds-role:text"/>
          <p:cNvSpPr txBox="1"/>
          <p:nvPr/>
        </p:nvSpPr>
        <p:spPr>
          <a:xfrm>
            <a:off x="905256" y="3858768"/>
            <a:ext cx="210769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lang="ru-RU">
                <a:solidFill>
                  <a:srgbClr val="667985"/>
                </a:solidFill>
                <a:latin typeface="Arial"/>
              </a:rPr>
              <a:t>с 9,8 до 8,0 дня</a:t>
            </a:r>
          </a:p>
        </p:txBody>
      </p:sp>
      <p:sp>
        <p:nvSpPr>
          <p:cNvPr id="12" name="ds-role:metric-card"/>
          <p:cNvSpPr/>
          <p:nvPr/>
        </p:nvSpPr>
        <p:spPr>
          <a:xfrm>
            <a:off x="3433572" y="1600200"/>
            <a:ext cx="2546604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9F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-role:accent"/>
          <p:cNvSpPr/>
          <p:nvPr/>
        </p:nvSpPr>
        <p:spPr>
          <a:xfrm>
            <a:off x="3433572" y="1600200"/>
            <a:ext cx="2546604" cy="82296"/>
          </a:xfrm>
          <a:prstGeom prst="rect">
            <a:avLst/>
          </a:prstGeom>
          <a:solidFill>
            <a:srgbClr val="257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-role:text"/>
          <p:cNvSpPr txBox="1"/>
          <p:nvPr/>
        </p:nvSpPr>
        <p:spPr>
          <a:xfrm>
            <a:off x="3653028" y="1965960"/>
            <a:ext cx="2107692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 lang="ru-RU">
                <a:solidFill>
                  <a:srgbClr val="25734C"/>
                </a:solidFill>
                <a:latin typeface="Arial"/>
              </a:rPr>
              <a:t>+12 п.п.</a:t>
            </a:r>
          </a:p>
        </p:txBody>
      </p:sp>
      <p:sp>
        <p:nvSpPr>
          <p:cNvPr id="15" name="ds-role:text"/>
          <p:cNvSpPr txBox="1"/>
          <p:nvPr/>
        </p:nvSpPr>
        <p:spPr>
          <a:xfrm>
            <a:off x="3653028" y="2999232"/>
            <a:ext cx="210769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lang="ru-RU">
                <a:solidFill>
                  <a:srgbClr val="23313A"/>
                </a:solidFill>
                <a:latin typeface="Arial"/>
              </a:rPr>
              <a:t>Соблюдение SLA</a:t>
            </a:r>
          </a:p>
        </p:txBody>
      </p:sp>
      <p:sp>
        <p:nvSpPr>
          <p:cNvPr id="16" name="ds-role:text"/>
          <p:cNvSpPr txBox="1"/>
          <p:nvPr/>
        </p:nvSpPr>
        <p:spPr>
          <a:xfrm>
            <a:off x="3653028" y="3858768"/>
            <a:ext cx="210769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lang="ru-RU">
                <a:solidFill>
                  <a:srgbClr val="667985"/>
                </a:solidFill>
                <a:latin typeface="Arial"/>
              </a:rPr>
              <a:t>рост до 91%</a:t>
            </a:r>
          </a:p>
        </p:txBody>
      </p:sp>
      <p:sp>
        <p:nvSpPr>
          <p:cNvPr id="17" name="ds-role:metric-card"/>
          <p:cNvSpPr/>
          <p:nvPr/>
        </p:nvSpPr>
        <p:spPr>
          <a:xfrm>
            <a:off x="6181344" y="1600200"/>
            <a:ext cx="2546604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9F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-role:accent"/>
          <p:cNvSpPr/>
          <p:nvPr/>
        </p:nvSpPr>
        <p:spPr>
          <a:xfrm>
            <a:off x="6181344" y="1600200"/>
            <a:ext cx="2546604" cy="82296"/>
          </a:xfrm>
          <a:prstGeom prst="rect">
            <a:avLst/>
          </a:prstGeom>
          <a:solidFill>
            <a:srgbClr val="257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-role:text"/>
          <p:cNvSpPr txBox="1"/>
          <p:nvPr/>
        </p:nvSpPr>
        <p:spPr>
          <a:xfrm>
            <a:off x="6400800" y="1965960"/>
            <a:ext cx="2107692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 lang="ru-RU">
                <a:solidFill>
                  <a:srgbClr val="25734C"/>
                </a:solidFill>
                <a:latin typeface="Arial"/>
              </a:rPr>
              <a:t>−9%</a:t>
            </a:r>
          </a:p>
        </p:txBody>
      </p:sp>
      <p:sp>
        <p:nvSpPr>
          <p:cNvPr id="20" name="ds-role:text"/>
          <p:cNvSpPr txBox="1"/>
          <p:nvPr/>
        </p:nvSpPr>
        <p:spPr>
          <a:xfrm>
            <a:off x="6400800" y="2999232"/>
            <a:ext cx="210769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lang="ru-RU">
                <a:solidFill>
                  <a:srgbClr val="23313A"/>
                </a:solidFill>
                <a:latin typeface="Arial"/>
              </a:rPr>
              <a:t>Стоимость операции</a:t>
            </a:r>
          </a:p>
        </p:txBody>
      </p:sp>
      <p:sp>
        <p:nvSpPr>
          <p:cNvPr id="21" name="ds-role:text"/>
          <p:cNvSpPr txBox="1"/>
          <p:nvPr/>
        </p:nvSpPr>
        <p:spPr>
          <a:xfrm>
            <a:off x="6400800" y="3858768"/>
            <a:ext cx="210769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lang="ru-RU">
                <a:solidFill>
                  <a:srgbClr val="667985"/>
                </a:solidFill>
                <a:latin typeface="Arial"/>
              </a:rPr>
              <a:t>без сокращения штата</a:t>
            </a:r>
          </a:p>
        </p:txBody>
      </p:sp>
      <p:sp>
        <p:nvSpPr>
          <p:cNvPr id="22" name="ds-role:metric-card"/>
          <p:cNvSpPr/>
          <p:nvPr/>
        </p:nvSpPr>
        <p:spPr>
          <a:xfrm>
            <a:off x="8929116" y="1600200"/>
            <a:ext cx="2546604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9F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-role:accent"/>
          <p:cNvSpPr/>
          <p:nvPr/>
        </p:nvSpPr>
        <p:spPr>
          <a:xfrm>
            <a:off x="8929116" y="1600200"/>
            <a:ext cx="2546604" cy="82296"/>
          </a:xfrm>
          <a:prstGeom prst="rect">
            <a:avLst/>
          </a:prstGeom>
          <a:solidFill>
            <a:srgbClr val="C7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-role:text"/>
          <p:cNvSpPr txBox="1"/>
          <p:nvPr/>
        </p:nvSpPr>
        <p:spPr>
          <a:xfrm>
            <a:off x="9148572" y="1965960"/>
            <a:ext cx="2107692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 lang="ru-RU">
                <a:solidFill>
                  <a:srgbClr val="C77932"/>
                </a:solidFill>
                <a:latin typeface="Arial"/>
              </a:rPr>
              <a:t>14</a:t>
            </a:r>
          </a:p>
        </p:txBody>
      </p:sp>
      <p:sp>
        <p:nvSpPr>
          <p:cNvPr id="25" name="ds-role:text"/>
          <p:cNvSpPr txBox="1"/>
          <p:nvPr/>
        </p:nvSpPr>
        <p:spPr>
          <a:xfrm>
            <a:off x="9148572" y="2999232"/>
            <a:ext cx="210769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lang="ru-RU">
                <a:solidFill>
                  <a:srgbClr val="23313A"/>
                </a:solidFill>
                <a:latin typeface="Arial"/>
              </a:rPr>
              <a:t>Дефектов</a:t>
            </a:r>
          </a:p>
        </p:txBody>
      </p:sp>
      <p:sp>
        <p:nvSpPr>
          <p:cNvPr id="26" name="ds-role:text"/>
          <p:cNvSpPr txBox="1"/>
          <p:nvPr/>
        </p:nvSpPr>
        <p:spPr>
          <a:xfrm>
            <a:off x="9148572" y="3858768"/>
            <a:ext cx="210769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lang="ru-RU">
                <a:solidFill>
                  <a:srgbClr val="667985"/>
                </a:solidFill>
                <a:latin typeface="Arial"/>
              </a:rPr>
              <a:t>цель следующего периода: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-role:title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 lang="ru-RU">
                <a:solidFill>
                  <a:srgbClr val="203F54"/>
                </a:solidFill>
                <a:latin typeface="Arial"/>
              </a:rPr>
              <a:t>Выручка растёт четыре квартала подряд</a:t>
            </a:r>
          </a:p>
        </p:txBody>
      </p:sp>
      <p:sp>
        <p:nvSpPr>
          <p:cNvPr id="3" name="ds-role:accent"/>
          <p:cNvSpPr/>
          <p:nvPr/>
        </p:nvSpPr>
        <p:spPr>
          <a:xfrm>
            <a:off x="612648" y="987552"/>
            <a:ext cx="914400" cy="54864"/>
          </a:xfrm>
          <a:prstGeom prst="rect">
            <a:avLst/>
          </a:prstGeom>
          <a:solidFill>
            <a:srgbClr val="C7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-role:footer"/>
          <p:cNvSpPr txBox="1"/>
          <p:nvPr/>
        </p:nvSpPr>
        <p:spPr>
          <a:xfrm>
            <a:off x="621792" y="6510528"/>
            <a:ext cx="8686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lang="ru-RU">
                <a:solidFill>
                  <a:srgbClr val="667985"/>
                </a:solidFill>
                <a:latin typeface="Arial"/>
              </a:rPr>
              <a:t>Операционный обзор · август 2026</a:t>
            </a:r>
          </a:p>
        </p:txBody>
      </p:sp>
      <p:sp>
        <p:nvSpPr>
          <p:cNvPr id="5" name="ds-role:source"/>
          <p:cNvSpPr txBox="1"/>
          <p:nvPr/>
        </p:nvSpPr>
        <p:spPr>
          <a:xfrm>
            <a:off x="621792" y="6236208"/>
            <a:ext cx="10241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lang="ru-RU">
                <a:solidFill>
                  <a:srgbClr val="667985"/>
                </a:solidFill>
                <a:latin typeface="Arial"/>
              </a:rPr>
              <a:t>Источник: управленческая отчётность; значения демонстрационные</a:t>
            </a:r>
          </a:p>
        </p:txBody>
      </p:sp>
      <p:sp>
        <p:nvSpPr>
          <p:cNvPr id="6" name="ds-role:slide-number"/>
          <p:cNvSpPr txBox="1"/>
          <p:nvPr/>
        </p:nvSpPr>
        <p:spPr>
          <a:xfrm>
            <a:off x="11137392" y="6473952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lang="ru-RU">
                <a:solidFill>
                  <a:srgbClr val="667985"/>
                </a:solidFill>
                <a:latin typeface="Arial"/>
              </a:rPr>
              <a:t>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325880"/>
          <a:ext cx="1051560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-role:title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 lang="ru-RU">
                <a:solidFill>
                  <a:srgbClr val="203F54"/>
                </a:solidFill>
                <a:latin typeface="Arial"/>
              </a:rPr>
              <a:t>Что сработало — и что пока мешает</a:t>
            </a:r>
          </a:p>
        </p:txBody>
      </p:sp>
      <p:sp>
        <p:nvSpPr>
          <p:cNvPr id="3" name="ds-role:accent"/>
          <p:cNvSpPr/>
          <p:nvPr/>
        </p:nvSpPr>
        <p:spPr>
          <a:xfrm>
            <a:off x="612648" y="987552"/>
            <a:ext cx="914400" cy="54864"/>
          </a:xfrm>
          <a:prstGeom prst="rect">
            <a:avLst/>
          </a:prstGeom>
          <a:solidFill>
            <a:srgbClr val="C7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-role:footer"/>
          <p:cNvSpPr txBox="1"/>
          <p:nvPr/>
        </p:nvSpPr>
        <p:spPr>
          <a:xfrm>
            <a:off x="621792" y="6510528"/>
            <a:ext cx="8686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lang="ru-RU">
                <a:solidFill>
                  <a:srgbClr val="667985"/>
                </a:solidFill>
                <a:latin typeface="Arial"/>
              </a:rPr>
              <a:t>Операционный обзор · август 2026</a:t>
            </a:r>
          </a:p>
        </p:txBody>
      </p:sp>
      <p:sp>
        <p:nvSpPr>
          <p:cNvPr id="5" name="ds-role:slide-number"/>
          <p:cNvSpPr txBox="1"/>
          <p:nvPr/>
        </p:nvSpPr>
        <p:spPr>
          <a:xfrm>
            <a:off x="11137392" y="6473952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lang="ru-RU">
                <a:solidFill>
                  <a:srgbClr val="667985"/>
                </a:solidFill>
                <a:latin typeface="Arial"/>
              </a:rPr>
              <a:t>4</a:t>
            </a:r>
          </a:p>
        </p:txBody>
      </p:sp>
      <p:sp>
        <p:nvSpPr>
          <p:cNvPr id="6" name="ds-role:card"/>
          <p:cNvSpPr/>
          <p:nvPr/>
        </p:nvSpPr>
        <p:spPr>
          <a:xfrm>
            <a:off x="658368" y="1298448"/>
            <a:ext cx="534924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E9F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-role:card"/>
          <p:cNvSpPr/>
          <p:nvPr/>
        </p:nvSpPr>
        <p:spPr>
          <a:xfrm>
            <a:off x="6181344" y="1298448"/>
            <a:ext cx="534924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E9F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-role:text"/>
          <p:cNvSpPr txBox="1"/>
          <p:nvPr/>
        </p:nvSpPr>
        <p:spPr>
          <a:xfrm>
            <a:off x="914400" y="1554480"/>
            <a:ext cx="4846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 lang="ru-RU">
                <a:solidFill>
                  <a:srgbClr val="3E6B78"/>
                </a:solidFill>
                <a:latin typeface="Arial"/>
              </a:rPr>
              <a:t>Драйверы результата</a:t>
            </a:r>
          </a:p>
        </p:txBody>
      </p:sp>
      <p:sp>
        <p:nvSpPr>
          <p:cNvPr id="9" name="ds-role:text"/>
          <p:cNvSpPr txBox="1"/>
          <p:nvPr/>
        </p:nvSpPr>
        <p:spPr>
          <a:xfrm>
            <a:off x="6428232" y="1554480"/>
            <a:ext cx="4846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 lang="ru-RU">
                <a:solidFill>
                  <a:srgbClr val="3E6B78"/>
                </a:solidFill>
                <a:latin typeface="Arial"/>
              </a:rPr>
              <a:t>Ограничения</a:t>
            </a:r>
          </a:p>
        </p:txBody>
      </p:sp>
      <p:sp>
        <p:nvSpPr>
          <p:cNvPr id="10" name="ds-role:bullets"/>
          <p:cNvSpPr txBox="1"/>
          <p:nvPr/>
        </p:nvSpPr>
        <p:spPr>
          <a:xfrm>
            <a:off x="914400" y="2057400"/>
            <a:ext cx="4800600" cy="352044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1700" b="1" i="0" lang="ru-RU">
                <a:solidFill>
                  <a:srgbClr val="23313A"/>
                </a:solidFill>
                <a:latin typeface="Arial"/>
              </a:rPr>
              <a:t>Единая очередь задач и прозрачные приоритеты</a:t>
            </a:r>
          </a:p>
          <a:p>
            <a:pPr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1700" b="0" i="0" lang="ru-RU">
                <a:solidFill>
                  <a:srgbClr val="23313A"/>
                </a:solidFill>
                <a:latin typeface="Arial"/>
              </a:rPr>
              <a:t>Автоматическая проверка обязательных полей</a:t>
            </a:r>
          </a:p>
          <a:p>
            <a:pPr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1700" b="0" i="0" lang="ru-RU">
                <a:solidFill>
                  <a:srgbClr val="23313A"/>
                </a:solidFill>
                <a:latin typeface="Arial"/>
              </a:rPr>
              <a:t>Еженедельный разбор причин отклонений</a:t>
            </a:r>
          </a:p>
          <a:p>
            <a:pPr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1700" b="0" i="0" lang="ru-RU">
                <a:solidFill>
                  <a:srgbClr val="23313A"/>
                </a:solidFill>
                <a:latin typeface="Arial"/>
              </a:rPr>
              <a:t>Персональные владельцы ключевых показателей</a:t>
            </a:r>
          </a:p>
        </p:txBody>
      </p:sp>
      <p:sp>
        <p:nvSpPr>
          <p:cNvPr id="11" name="ds-role:bullets"/>
          <p:cNvSpPr txBox="1"/>
          <p:nvPr/>
        </p:nvSpPr>
        <p:spPr>
          <a:xfrm>
            <a:off x="6428232" y="2057400"/>
            <a:ext cx="4800600" cy="352044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1700" b="1" i="0" lang="ru-RU">
                <a:solidFill>
                  <a:srgbClr val="23313A"/>
                </a:solidFill>
                <a:latin typeface="Arial"/>
              </a:rPr>
              <a:t>Ручное согласование исключений</a:t>
            </a:r>
          </a:p>
          <a:p>
            <a:pPr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1700" b="0" i="0" lang="ru-RU">
                <a:solidFill>
                  <a:srgbClr val="23313A"/>
                </a:solidFill>
                <a:latin typeface="Arial"/>
              </a:rPr>
              <a:t>Разные справочники в двух подразделениях</a:t>
            </a:r>
          </a:p>
          <a:p>
            <a:pPr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1700" b="0" i="0" lang="ru-RU">
                <a:solidFill>
                  <a:srgbClr val="23313A"/>
                </a:solidFill>
                <a:latin typeface="Arial"/>
              </a:rPr>
              <a:t>Недостаточная детализация причин возврата</a:t>
            </a:r>
          </a:p>
          <a:p>
            <a:pPr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1700" b="0" i="0" lang="ru-RU">
                <a:solidFill>
                  <a:srgbClr val="23313A"/>
                </a:solidFill>
                <a:latin typeface="Arial"/>
              </a:rPr>
              <a:t>Нет единого окна мониторинга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-role:title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 lang="ru-RU">
                <a:solidFill>
                  <a:srgbClr val="203F54"/>
                </a:solidFill>
                <a:latin typeface="Arial"/>
              </a:rPr>
              <a:t>План действий на 90 дней</a:t>
            </a:r>
          </a:p>
        </p:txBody>
      </p:sp>
      <p:sp>
        <p:nvSpPr>
          <p:cNvPr id="3" name="ds-role:accent"/>
          <p:cNvSpPr/>
          <p:nvPr/>
        </p:nvSpPr>
        <p:spPr>
          <a:xfrm>
            <a:off x="612648" y="987552"/>
            <a:ext cx="914400" cy="54864"/>
          </a:xfrm>
          <a:prstGeom prst="rect">
            <a:avLst/>
          </a:prstGeom>
          <a:solidFill>
            <a:srgbClr val="C7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-role:footer"/>
          <p:cNvSpPr txBox="1"/>
          <p:nvPr/>
        </p:nvSpPr>
        <p:spPr>
          <a:xfrm>
            <a:off x="621792" y="6510528"/>
            <a:ext cx="8686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lang="ru-RU">
                <a:solidFill>
                  <a:srgbClr val="667985"/>
                </a:solidFill>
                <a:latin typeface="Arial"/>
              </a:rPr>
              <a:t>Операционный обзор · август 2026</a:t>
            </a:r>
          </a:p>
        </p:txBody>
      </p:sp>
      <p:sp>
        <p:nvSpPr>
          <p:cNvPr id="5" name="ds-role:slide-number"/>
          <p:cNvSpPr txBox="1"/>
          <p:nvPr/>
        </p:nvSpPr>
        <p:spPr>
          <a:xfrm>
            <a:off x="11137392" y="6473952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lang="ru-RU">
                <a:solidFill>
                  <a:srgbClr val="667985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ds-role:table"/>
          <p:cNvGraphicFramePr>
            <a:graphicFrameLocks noGrp="1"/>
          </p:cNvGraphicFramePr>
          <p:nvPr/>
        </p:nvGraphicFramePr>
        <p:xfrm>
          <a:off x="658368" y="1371600"/>
          <a:ext cx="1088135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4916"/>
                <a:gridCol w="2176272"/>
                <a:gridCol w="1741017"/>
                <a:gridCol w="2829153"/>
              </a:tblGrid>
              <a:tr h="905256">
                <a:tc>
                  <a:txBody>
                    <a:bodyPr wrap="square" anchor="ctr"/>
                    <a:lstStyle/>
                    <a:p>
                      <a:r>
                        <a:rPr sz="1150" b="1" i="0" lang="ru-RU">
                          <a:solidFill>
                            <a:srgbClr val="FFFFFF"/>
                          </a:solidFill>
                          <a:latin typeface="Arial"/>
                        </a:rPr>
                        <a:t>Инициатива</a:t>
                      </a:r>
                    </a:p>
                  </a:txBody>
                  <a:tcPr marL="73152" marR="73152" marT="45720" marB="45720">
                    <a:solidFill>
                      <a:srgbClr val="203F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1" i="0" lang="ru-RU">
                          <a:solidFill>
                            <a:srgbClr val="FFFFFF"/>
                          </a:solidFill>
                          <a:latin typeface="Arial"/>
                        </a:rPr>
                        <a:t>Владелец</a:t>
                      </a:r>
                    </a:p>
                  </a:txBody>
                  <a:tcPr marL="73152" marR="73152" marT="45720" marB="45720">
                    <a:solidFill>
                      <a:srgbClr val="203F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1" i="0" lang="ru-RU">
                          <a:solidFill>
                            <a:srgbClr val="FFFFFF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73152" marR="73152" marT="45720" marB="45720">
                    <a:solidFill>
                      <a:srgbClr val="203F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1" i="0" lang="ru-RU">
                          <a:solidFill>
                            <a:srgbClr val="FFFFFF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 marL="73152" marR="73152" marT="45720" marB="45720">
                    <a:solidFill>
                      <a:srgbClr val="203F54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Унифицировать справочники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Data Office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15 сен.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Один источник данных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Автоматизировать исключения</a:t>
                      </a:r>
                    </a:p>
                  </a:txBody>
                  <a:tcPr marL="73152" marR="73152" marT="45720" marB="45720">
                    <a:solidFill>
                      <a:srgbClr val="E9F0F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Operations</a:t>
                      </a:r>
                    </a:p>
                  </a:txBody>
                  <a:tcPr marL="73152" marR="73152" marT="45720" marB="45720">
                    <a:solidFill>
                      <a:srgbClr val="E9F0F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30 сен.</a:t>
                      </a:r>
                    </a:p>
                  </a:txBody>
                  <a:tcPr marL="73152" marR="73152" marT="45720" marB="45720">
                    <a:solidFill>
                      <a:srgbClr val="E9F0F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−30% ручных согласований</a:t>
                      </a:r>
                    </a:p>
                  </a:txBody>
                  <a:tcPr marL="73152" marR="73152" marT="45720" marB="45720">
                    <a:solidFill>
                      <a:srgbClr val="E9F0F3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Запустить панель контроля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Analytics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15 окт.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SLA и дефекты онлайн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Провести контрольный замер</a:t>
                      </a:r>
                    </a:p>
                  </a:txBody>
                  <a:tcPr marL="73152" marR="73152" marT="45720" marB="45720">
                    <a:solidFill>
                      <a:srgbClr val="E9F0F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PMO</a:t>
                      </a:r>
                    </a:p>
                  </a:txBody>
                  <a:tcPr marL="73152" marR="73152" marT="45720" marB="45720">
                    <a:solidFill>
                      <a:srgbClr val="E9F0F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31 окт.</a:t>
                      </a:r>
                    </a:p>
                  </a:txBody>
                  <a:tcPr marL="73152" marR="73152" marT="45720" marB="45720">
                    <a:solidFill>
                      <a:srgbClr val="E9F0F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 i="0" lang="ru-RU">
                          <a:solidFill>
                            <a:srgbClr val="23313A"/>
                          </a:solidFill>
                          <a:latin typeface="Arial"/>
                        </a:rPr>
                        <a:t>Подтверждённый эффект</a:t>
                      </a:r>
                    </a:p>
                  </a:txBody>
                  <a:tcPr marL="73152" marR="73152" marT="45720" marB="45720">
                    <a:solidFill>
                      <a:srgbClr val="E9F0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-role:title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 lang="ru-RU">
                <a:solidFill>
                  <a:srgbClr val="203F54"/>
                </a:solidFill>
                <a:latin typeface="Arial"/>
              </a:rPr>
              <a:t>Последовательность масштабирования</a:t>
            </a:r>
          </a:p>
        </p:txBody>
      </p:sp>
      <p:sp>
        <p:nvSpPr>
          <p:cNvPr id="3" name="ds-role:accent"/>
          <p:cNvSpPr/>
          <p:nvPr/>
        </p:nvSpPr>
        <p:spPr>
          <a:xfrm>
            <a:off x="612648" y="987552"/>
            <a:ext cx="914400" cy="54864"/>
          </a:xfrm>
          <a:prstGeom prst="rect">
            <a:avLst/>
          </a:prstGeom>
          <a:solidFill>
            <a:srgbClr val="C7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-role:footer"/>
          <p:cNvSpPr txBox="1"/>
          <p:nvPr/>
        </p:nvSpPr>
        <p:spPr>
          <a:xfrm>
            <a:off x="621792" y="6510528"/>
            <a:ext cx="8686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lang="ru-RU">
                <a:solidFill>
                  <a:srgbClr val="667985"/>
                </a:solidFill>
                <a:latin typeface="Arial"/>
              </a:rPr>
              <a:t>Операционный обзор · август 2026</a:t>
            </a:r>
          </a:p>
        </p:txBody>
      </p:sp>
      <p:sp>
        <p:nvSpPr>
          <p:cNvPr id="5" name="ds-role:slide-number"/>
          <p:cNvSpPr txBox="1"/>
          <p:nvPr/>
        </p:nvSpPr>
        <p:spPr>
          <a:xfrm>
            <a:off x="11137392" y="6473952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lang="ru-RU">
                <a:solidFill>
                  <a:srgbClr val="667985"/>
                </a:solidFill>
                <a:latin typeface="Arial"/>
              </a:rPr>
              <a:t>6</a:t>
            </a:r>
          </a:p>
        </p:txBody>
      </p:sp>
      <p:sp>
        <p:nvSpPr>
          <p:cNvPr id="6" name="ds-role:timeline-line"/>
          <p:cNvSpPr/>
          <p:nvPr/>
        </p:nvSpPr>
        <p:spPr>
          <a:xfrm>
            <a:off x="960120" y="2971800"/>
            <a:ext cx="10241280" cy="45720"/>
          </a:xfrm>
          <a:prstGeom prst="rect">
            <a:avLst/>
          </a:prstGeom>
          <a:solidFill>
            <a:srgbClr val="3E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-role:timeline-marker"/>
          <p:cNvSpPr/>
          <p:nvPr/>
        </p:nvSpPr>
        <p:spPr>
          <a:xfrm>
            <a:off x="850392" y="2871216"/>
            <a:ext cx="237744" cy="237744"/>
          </a:xfrm>
          <a:prstGeom prst="ellipse">
            <a:avLst/>
          </a:prstGeom>
          <a:solidFill>
            <a:srgbClr val="C7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-role:text"/>
          <p:cNvSpPr txBox="1"/>
          <p:nvPr/>
        </p:nvSpPr>
        <p:spPr>
          <a:xfrm>
            <a:off x="274320" y="2313432"/>
            <a:ext cx="1371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lang="ru-RU">
                <a:solidFill>
                  <a:srgbClr val="C77932"/>
                </a:solidFill>
                <a:latin typeface="Arial"/>
              </a:rPr>
              <a:t>Август</a:t>
            </a:r>
          </a:p>
        </p:txBody>
      </p:sp>
      <p:sp>
        <p:nvSpPr>
          <p:cNvPr id="9" name="ds-role:text"/>
          <p:cNvSpPr txBox="1"/>
          <p:nvPr/>
        </p:nvSpPr>
        <p:spPr>
          <a:xfrm>
            <a:off x="137160" y="3355848"/>
            <a:ext cx="1645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 lang="ru-RU">
                <a:solidFill>
                  <a:srgbClr val="23313A"/>
                </a:solidFill>
                <a:latin typeface="Arial"/>
              </a:rPr>
              <a:t>Подготовка</a:t>
            </a:r>
          </a:p>
        </p:txBody>
      </p:sp>
      <p:sp>
        <p:nvSpPr>
          <p:cNvPr id="10" name="ds-role:text"/>
          <p:cNvSpPr txBox="1"/>
          <p:nvPr/>
        </p:nvSpPr>
        <p:spPr>
          <a:xfrm>
            <a:off x="91440" y="4023360"/>
            <a:ext cx="17373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 lang="ru-RU">
                <a:solidFill>
                  <a:srgbClr val="667985"/>
                </a:solidFill>
                <a:latin typeface="Arial"/>
              </a:rPr>
              <a:t>Базовые метрики и владельцы</a:t>
            </a:r>
          </a:p>
        </p:txBody>
      </p:sp>
      <p:sp>
        <p:nvSpPr>
          <p:cNvPr id="11" name="ds-role:timeline-marker"/>
          <p:cNvSpPr/>
          <p:nvPr/>
        </p:nvSpPr>
        <p:spPr>
          <a:xfrm>
            <a:off x="4264152" y="2871216"/>
            <a:ext cx="237744" cy="237744"/>
          </a:xfrm>
          <a:prstGeom prst="ellipse">
            <a:avLst/>
          </a:prstGeom>
          <a:solidFill>
            <a:srgbClr val="3E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-role:text"/>
          <p:cNvSpPr txBox="1"/>
          <p:nvPr/>
        </p:nvSpPr>
        <p:spPr>
          <a:xfrm>
            <a:off x="3688080" y="2313432"/>
            <a:ext cx="1371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lang="ru-RU">
                <a:solidFill>
                  <a:srgbClr val="C77932"/>
                </a:solidFill>
                <a:latin typeface="Arial"/>
              </a:rPr>
              <a:t>Сентябрь</a:t>
            </a:r>
          </a:p>
        </p:txBody>
      </p:sp>
      <p:sp>
        <p:nvSpPr>
          <p:cNvPr id="13" name="ds-role:text"/>
          <p:cNvSpPr txBox="1"/>
          <p:nvPr/>
        </p:nvSpPr>
        <p:spPr>
          <a:xfrm>
            <a:off x="3550920" y="3355848"/>
            <a:ext cx="1645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 lang="ru-RU">
                <a:solidFill>
                  <a:srgbClr val="23313A"/>
                </a:solidFill>
                <a:latin typeface="Arial"/>
              </a:rPr>
              <a:t>Стандартизация</a:t>
            </a:r>
          </a:p>
        </p:txBody>
      </p:sp>
      <p:sp>
        <p:nvSpPr>
          <p:cNvPr id="14" name="ds-role:text"/>
          <p:cNvSpPr txBox="1"/>
          <p:nvPr/>
        </p:nvSpPr>
        <p:spPr>
          <a:xfrm>
            <a:off x="3505199" y="4023360"/>
            <a:ext cx="17373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 lang="ru-RU">
                <a:solidFill>
                  <a:srgbClr val="667985"/>
                </a:solidFill>
                <a:latin typeface="Arial"/>
              </a:rPr>
              <a:t>Справочники и правила</a:t>
            </a:r>
          </a:p>
        </p:txBody>
      </p:sp>
      <p:sp>
        <p:nvSpPr>
          <p:cNvPr id="15" name="ds-role:timeline-marker"/>
          <p:cNvSpPr/>
          <p:nvPr/>
        </p:nvSpPr>
        <p:spPr>
          <a:xfrm>
            <a:off x="7677912" y="2871216"/>
            <a:ext cx="237744" cy="237744"/>
          </a:xfrm>
          <a:prstGeom prst="ellipse">
            <a:avLst/>
          </a:prstGeom>
          <a:solidFill>
            <a:srgbClr val="3E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-role:text"/>
          <p:cNvSpPr txBox="1"/>
          <p:nvPr/>
        </p:nvSpPr>
        <p:spPr>
          <a:xfrm>
            <a:off x="7101839" y="2313432"/>
            <a:ext cx="1371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lang="ru-RU">
                <a:solidFill>
                  <a:srgbClr val="C77932"/>
                </a:solidFill>
                <a:latin typeface="Arial"/>
              </a:rPr>
              <a:t>Октябрь</a:t>
            </a:r>
          </a:p>
        </p:txBody>
      </p:sp>
      <p:sp>
        <p:nvSpPr>
          <p:cNvPr id="17" name="ds-role:text"/>
          <p:cNvSpPr txBox="1"/>
          <p:nvPr/>
        </p:nvSpPr>
        <p:spPr>
          <a:xfrm>
            <a:off x="6964679" y="3355848"/>
            <a:ext cx="1645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 lang="ru-RU">
                <a:solidFill>
                  <a:srgbClr val="23313A"/>
                </a:solidFill>
                <a:latin typeface="Arial"/>
              </a:rPr>
              <a:t>Автоматизация</a:t>
            </a:r>
          </a:p>
        </p:txBody>
      </p:sp>
      <p:sp>
        <p:nvSpPr>
          <p:cNvPr id="18" name="ds-role:text"/>
          <p:cNvSpPr txBox="1"/>
          <p:nvPr/>
        </p:nvSpPr>
        <p:spPr>
          <a:xfrm>
            <a:off x="6918959" y="4023360"/>
            <a:ext cx="17373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 lang="ru-RU">
                <a:solidFill>
                  <a:srgbClr val="667985"/>
                </a:solidFill>
                <a:latin typeface="Arial"/>
              </a:rPr>
              <a:t>Панель и исключения</a:t>
            </a:r>
          </a:p>
        </p:txBody>
      </p:sp>
      <p:sp>
        <p:nvSpPr>
          <p:cNvPr id="19" name="ds-role:timeline-marker"/>
          <p:cNvSpPr/>
          <p:nvPr/>
        </p:nvSpPr>
        <p:spPr>
          <a:xfrm>
            <a:off x="11091672" y="2871216"/>
            <a:ext cx="237744" cy="237744"/>
          </a:xfrm>
          <a:prstGeom prst="ellipse">
            <a:avLst/>
          </a:prstGeom>
          <a:solidFill>
            <a:srgbClr val="C7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-role:text"/>
          <p:cNvSpPr txBox="1"/>
          <p:nvPr/>
        </p:nvSpPr>
        <p:spPr>
          <a:xfrm>
            <a:off x="10515600" y="2313432"/>
            <a:ext cx="1371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lang="ru-RU">
                <a:solidFill>
                  <a:srgbClr val="C77932"/>
                </a:solidFill>
                <a:latin typeface="Arial"/>
              </a:rPr>
              <a:t>Ноябрь</a:t>
            </a:r>
          </a:p>
        </p:txBody>
      </p:sp>
      <p:sp>
        <p:nvSpPr>
          <p:cNvPr id="21" name="ds-role:text"/>
          <p:cNvSpPr txBox="1"/>
          <p:nvPr/>
        </p:nvSpPr>
        <p:spPr>
          <a:xfrm>
            <a:off x="10378440" y="3355848"/>
            <a:ext cx="1645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 lang="ru-RU">
                <a:solidFill>
                  <a:srgbClr val="23313A"/>
                </a:solidFill>
                <a:latin typeface="Arial"/>
              </a:rPr>
              <a:t>Проверка</a:t>
            </a:r>
          </a:p>
        </p:txBody>
      </p:sp>
      <p:sp>
        <p:nvSpPr>
          <p:cNvPr id="22" name="ds-role:text"/>
          <p:cNvSpPr txBox="1"/>
          <p:nvPr/>
        </p:nvSpPr>
        <p:spPr>
          <a:xfrm>
            <a:off x="10332720" y="4023360"/>
            <a:ext cx="17373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 lang="ru-RU">
                <a:solidFill>
                  <a:srgbClr val="667985"/>
                </a:solidFill>
                <a:latin typeface="Arial"/>
              </a:rPr>
              <a:t>Контрольный замер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-role:title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 lang="ru-RU">
                <a:solidFill>
                  <a:srgbClr val="203F54"/>
                </a:solidFill>
                <a:latin typeface="Arial"/>
              </a:rPr>
              <a:t/>
            </a:r>
          </a:p>
        </p:txBody>
      </p:sp>
      <p:sp>
        <p:nvSpPr>
          <p:cNvPr id="3" name="ds-role:accent"/>
          <p:cNvSpPr/>
          <p:nvPr/>
        </p:nvSpPr>
        <p:spPr>
          <a:xfrm>
            <a:off x="612648" y="987552"/>
            <a:ext cx="914400" cy="54864"/>
          </a:xfrm>
          <a:prstGeom prst="rect">
            <a:avLst/>
          </a:prstGeom>
          <a:solidFill>
            <a:srgbClr val="C7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-role:footer"/>
          <p:cNvSpPr txBox="1"/>
          <p:nvPr/>
        </p:nvSpPr>
        <p:spPr>
          <a:xfrm>
            <a:off x="621792" y="6510528"/>
            <a:ext cx="8686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lang="ru-RU">
                <a:solidFill>
                  <a:srgbClr val="667985"/>
                </a:solidFill>
                <a:latin typeface="Arial"/>
              </a:rPr>
              <a:t>Операционный обзор · август 2026</a:t>
            </a:r>
          </a:p>
        </p:txBody>
      </p:sp>
      <p:sp>
        <p:nvSpPr>
          <p:cNvPr id="5" name="ds-role:slide-number"/>
          <p:cNvSpPr txBox="1"/>
          <p:nvPr/>
        </p:nvSpPr>
        <p:spPr>
          <a:xfrm>
            <a:off x="11137392" y="6473952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lang="ru-RU">
                <a:solidFill>
                  <a:srgbClr val="667985"/>
                </a:solidFill>
                <a:latin typeface="Arial"/>
              </a:rPr>
              <a:t>7</a:t>
            </a:r>
          </a:p>
        </p:txBody>
      </p:sp>
      <p:sp>
        <p:nvSpPr>
          <p:cNvPr id="6" name="ds-role:text"/>
          <p:cNvSpPr txBox="1"/>
          <p:nvPr/>
        </p:nvSpPr>
        <p:spPr>
          <a:xfrm>
            <a:off x="868680" y="960120"/>
            <a:ext cx="10972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 i="0" lang="ru-RU">
                <a:solidFill>
                  <a:srgbClr val="C77932"/>
                </a:solidFill>
                <a:latin typeface="Arial"/>
              </a:rPr>
              <a:t>“</a:t>
            </a:r>
          </a:p>
        </p:txBody>
      </p:sp>
      <p:sp>
        <p:nvSpPr>
          <p:cNvPr id="7" name="ds-role:quote"/>
          <p:cNvSpPr txBox="1"/>
          <p:nvPr/>
        </p:nvSpPr>
        <p:spPr>
          <a:xfrm>
            <a:off x="1417320" y="1508760"/>
            <a:ext cx="9418320" cy="2880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 i="1" lang="ru-RU">
                <a:solidFill>
                  <a:srgbClr val="203F54"/>
                </a:solidFill>
                <a:latin typeface="Arial"/>
              </a:rPr>
              <a:t>Масштабировать нужно не пилот как набор действий, а управляемую систему с понятными метриками и владельцами.</a:t>
            </a:r>
          </a:p>
        </p:txBody>
      </p:sp>
      <p:sp>
        <p:nvSpPr>
          <p:cNvPr id="8" name="ds-role:text"/>
          <p:cNvSpPr txBox="1"/>
          <p:nvPr/>
        </p:nvSpPr>
        <p:spPr>
          <a:xfrm>
            <a:off x="5852160" y="4663440"/>
            <a:ext cx="48920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 lang="ru-RU">
                <a:solidFill>
                  <a:srgbClr val="667985"/>
                </a:solidFill>
                <a:latin typeface="Arial"/>
              </a:rPr>
              <a:t>— принцип программы улучшений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F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-role:accent"/>
          <p:cNvSpPr/>
          <p:nvPr/>
        </p:nvSpPr>
        <p:spPr>
          <a:xfrm>
            <a:off x="658368" y="1170432"/>
            <a:ext cx="128016" cy="4389120"/>
          </a:xfrm>
          <a:prstGeom prst="rect">
            <a:avLst/>
          </a:prstGeom>
          <a:solidFill>
            <a:srgbClr val="C7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-role:text"/>
          <p:cNvSpPr txBox="1"/>
          <p:nvPr/>
        </p:nvSpPr>
        <p:spPr>
          <a:xfrm>
            <a:off x="1078992" y="1234440"/>
            <a:ext cx="12801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 lang="ru-RU">
                <a:solidFill>
                  <a:srgbClr val="C77932"/>
                </a:solidFill>
                <a:latin typeface="Arial"/>
              </a:rPr>
              <a:t>02</a:t>
            </a:r>
          </a:p>
        </p:txBody>
      </p:sp>
      <p:sp>
        <p:nvSpPr>
          <p:cNvPr id="4" name="ds-role:title"/>
          <p:cNvSpPr txBox="1"/>
          <p:nvPr/>
        </p:nvSpPr>
        <p:spPr>
          <a:xfrm>
            <a:off x="1078992" y="2011680"/>
            <a:ext cx="9966960" cy="1554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 lang="ru-RU">
                <a:solidFill>
                  <a:srgbClr val="FFFFFF"/>
                </a:solidFill>
                <a:latin typeface="Arial"/>
              </a:rPr>
              <a:t>Решение и следующие шаги</a:t>
            </a:r>
          </a:p>
        </p:txBody>
      </p:sp>
      <p:sp>
        <p:nvSpPr>
          <p:cNvPr id="5" name="ds-role:text"/>
          <p:cNvSpPr txBox="1"/>
          <p:nvPr/>
        </p:nvSpPr>
        <p:spPr>
          <a:xfrm>
            <a:off x="1097280" y="3794760"/>
            <a:ext cx="88696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 lang="ru-RU">
                <a:solidFill>
                  <a:srgbClr val="E9F0F3"/>
                </a:solidFill>
                <a:latin typeface="Arial"/>
              </a:rPr>
              <a:t>Что требуется утвердить сегодня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-role:title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 lang="ru-RU">
                <a:solidFill>
                  <a:srgbClr val="203F54"/>
                </a:solidFill>
                <a:latin typeface="Arial"/>
              </a:rPr>
              <a:t>Предлагаемое решение</a:t>
            </a:r>
          </a:p>
        </p:txBody>
      </p:sp>
      <p:sp>
        <p:nvSpPr>
          <p:cNvPr id="3" name="ds-role:accent"/>
          <p:cNvSpPr/>
          <p:nvPr/>
        </p:nvSpPr>
        <p:spPr>
          <a:xfrm>
            <a:off x="612648" y="987552"/>
            <a:ext cx="914400" cy="54864"/>
          </a:xfrm>
          <a:prstGeom prst="rect">
            <a:avLst/>
          </a:prstGeom>
          <a:solidFill>
            <a:srgbClr val="C7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-role:footer"/>
          <p:cNvSpPr txBox="1"/>
          <p:nvPr/>
        </p:nvSpPr>
        <p:spPr>
          <a:xfrm>
            <a:off x="621792" y="6510528"/>
            <a:ext cx="8686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lang="ru-RU">
                <a:solidFill>
                  <a:srgbClr val="667985"/>
                </a:solidFill>
                <a:latin typeface="Arial"/>
              </a:rPr>
              <a:t>Операционный обзор · август 2026</a:t>
            </a:r>
          </a:p>
        </p:txBody>
      </p:sp>
      <p:sp>
        <p:nvSpPr>
          <p:cNvPr id="5" name="ds-role:slide-number"/>
          <p:cNvSpPr txBox="1"/>
          <p:nvPr/>
        </p:nvSpPr>
        <p:spPr>
          <a:xfrm>
            <a:off x="11137392" y="6473952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lang="ru-RU">
                <a:solidFill>
                  <a:srgbClr val="667985"/>
                </a:solidFill>
                <a:latin typeface="Arial"/>
              </a:rPr>
              <a:t>9</a:t>
            </a:r>
          </a:p>
        </p:txBody>
      </p:sp>
      <p:sp>
        <p:nvSpPr>
          <p:cNvPr id="6" name="ds-role:bullets"/>
          <p:cNvSpPr txBox="1"/>
          <p:nvPr/>
        </p:nvSpPr>
        <p:spPr>
          <a:xfrm>
            <a:off x="777240" y="1298448"/>
            <a:ext cx="10561320" cy="466344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2100" b="1" i="0" lang="ru-RU">
                <a:solidFill>
                  <a:srgbClr val="23313A"/>
                </a:solidFill>
                <a:latin typeface="Arial"/>
              </a:rPr>
              <a:t xml:space="preserve">Масштабировать процесс на </a:t>
            </a:r>
            <a:r>
              <a:rPr sz="2100" b="1" i="0" lang="ru-RU">
                <a:solidFill>
                  <a:srgbClr val="23313A"/>
                </a:solidFill>
                <a:latin typeface="Arial"/>
              </a:rPr>
              <a:t>три команды</a:t>
            </a:r>
            <a:r>
              <a:rPr sz="2100" b="1" i="0" lang="ru-RU">
                <a:solidFill>
                  <a:srgbClr val="23313A"/>
                </a:solidFill>
                <a:latin typeface="Arial"/>
              </a:rPr>
              <a:t xml:space="preserve"> с 1 сентября</a:t>
            </a:r>
          </a:p>
          <a:p>
            <a:pPr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2100" b="0" i="0" lang="ru-RU">
                <a:solidFill>
                  <a:srgbClr val="23313A"/>
                </a:solidFill>
                <a:latin typeface="Arial"/>
              </a:rPr>
              <a:t>Назначить владельцев четырёх инициатив и контрольных метрик</a:t>
            </a:r>
          </a:p>
          <a:p>
            <a:pPr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2100" b="0" i="0" lang="ru-RU">
                <a:solidFill>
                  <a:srgbClr val="23313A"/>
                </a:solidFill>
                <a:latin typeface="Arial"/>
              </a:rPr>
              <a:t>Подтвердить бюджет автоматизации в пределах утверждённого лимита</a:t>
            </a:r>
          </a:p>
          <a:p>
            <a:pPr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2100" b="0" i="0" lang="ru-RU">
                <a:solidFill>
                  <a:srgbClr val="23313A"/>
                </a:solidFill>
                <a:latin typeface="Arial"/>
              </a:rPr>
              <a:t xml:space="preserve">Провести контрольный замер </a:t>
            </a:r>
            <a:r>
              <a:rPr sz="2100" b="0" i="0" lang="ru-RU">
                <a:solidFill>
                  <a:srgbClr val="23313A"/>
                </a:solidFill>
                <a:latin typeface="Arial"/>
              </a:rPr>
              <a:t>7 ноября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buChar char="•"/>
            </a:pPr>
            <a:r>
              <a:rPr sz="1900" b="0" i="0" lang="ru-RU">
                <a:solidFill>
                  <a:srgbClr val="23313A"/>
                </a:solidFill>
                <a:latin typeface="Arial"/>
              </a:rPr>
              <a:t>Вернуться к решению о полном развёртывании в ноябре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Операционный обзор</dc:title>
  <dc:subject>Результаты и план улучшений</dc:subject>
  <dc:creator>Рабочая группа</dc:creator>
  <cp:keywords>операции, KPI, roadmap</cp:keywords>
  <dc:description>Обновлённый сценарий масштабирования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